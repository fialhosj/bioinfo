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6602FC6-27A3-475A-BEE1-550BBA56AE6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E17BE36-0F1D-4B27-A63A-85A38059BBF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680CCA5-2080-4A59-B631-18BDA3B25EB4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/>
          <p:nvPr/>
        </p:nvSpPr>
        <p:spPr>
          <a:xfrm>
            <a:off x="0" y="0"/>
            <a:ext cx="10079280" cy="5670360"/>
          </a:xfrm>
          <a:prstGeom prst="rect">
            <a:avLst/>
          </a:prstGeom>
          <a:solidFill>
            <a:srgbClr val="0E3034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>
            <a:off x="7672680" y="0"/>
            <a:ext cx="2404080" cy="5670360"/>
          </a:xfrm>
          <a:prstGeom prst="rect">
            <a:avLst/>
          </a:prstGeom>
          <a:solidFill>
            <a:srgbClr val="153B3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"/>
          <p:cNvSpPr/>
          <p:nvPr/>
        </p:nvSpPr>
        <p:spPr>
          <a:xfrm>
            <a:off x="8035920" y="846720"/>
            <a:ext cx="1270080" cy="1270080"/>
          </a:xfrm>
          <a:prstGeom prst="ellipse">
            <a:avLst/>
          </a:prstGeom>
          <a:solidFill>
            <a:srgbClr val="277C74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"/>
          <p:cNvSpPr/>
          <p:nvPr/>
        </p:nvSpPr>
        <p:spPr>
          <a:xfrm>
            <a:off x="8406000" y="1217160"/>
            <a:ext cx="529560" cy="529560"/>
          </a:xfrm>
          <a:prstGeom prst="ellipse">
            <a:avLst/>
          </a:prstGeom>
          <a:solidFill>
            <a:srgbClr val="E98B45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8013960" y="3553200"/>
            <a:ext cx="317160" cy="869760"/>
          </a:xfrm>
          <a:prstGeom prst="rect">
            <a:avLst/>
          </a:prstGeom>
          <a:solidFill>
            <a:srgbClr val="277C74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8519400" y="3084120"/>
            <a:ext cx="317160" cy="1337760"/>
          </a:xfrm>
          <a:prstGeom prst="rect">
            <a:avLst/>
          </a:prstGeom>
          <a:solidFill>
            <a:srgbClr val="E98B45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9025920" y="2554920"/>
            <a:ext cx="317160" cy="1867320"/>
          </a:xfrm>
          <a:prstGeom prst="rect">
            <a:avLst/>
          </a:prstGeom>
          <a:solidFill>
            <a:srgbClr val="4B83A3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619920" y="619920"/>
            <a:ext cx="6652440" cy="264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2000"/>
              </a:lnSpc>
              <a:spcAft>
                <a:spcPts val="289"/>
              </a:spcAft>
            </a:pPr>
            <a:r>
              <a:rPr lang="en-US" sz="1000" b="1" u="none" strike="noStrike">
                <a:solidFill>
                  <a:srgbClr val="91C7BA"/>
                </a:solidFill>
                <a:effectLst/>
                <a:uFillTx/>
                <a:latin typeface="Arial"/>
              </a:rPr>
              <a:t>PESQUISA • BREVES, PARÁ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619920" y="1323000"/>
            <a:ext cx="6652440" cy="1398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08000"/>
              </a:lnSpc>
              <a:spcAft>
                <a:spcPts val="575"/>
              </a:spcAft>
            </a:pPr>
            <a:r>
              <a:rPr lang="en-US" sz="35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Prever notificações</a:t>
            </a:r>
            <a:br>
              <a:rPr sz="3500"/>
            </a:br>
            <a:r>
              <a:rPr lang="en-US" sz="35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mensais de malária</a:t>
            </a:r>
            <a:endParaRPr lang="en-US" sz="3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642960" y="3024000"/>
            <a:ext cx="6198840" cy="717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  <a:spcAft>
                <a:spcPts val="360"/>
              </a:spcAft>
            </a:pPr>
            <a:r>
              <a:rPr lang="en-US" sz="1700" b="0" u="none" strike="noStrike">
                <a:solidFill>
                  <a:srgbClr val="D6E8E3"/>
                </a:solidFill>
                <a:effectLst/>
                <a:uFillTx/>
                <a:latin typeface="Arial"/>
              </a:rPr>
              <a:t>O que os modelos aprendem com o histórico de casos — sem dados de clima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642960" y="4384440"/>
            <a:ext cx="6350400" cy="482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  <a:spcAft>
                <a:spcPts val="505"/>
              </a:spcAft>
            </a:pPr>
            <a:r>
              <a:rPr lang="en-US" sz="1200" b="0" u="none" strike="noStrike">
                <a:solidFill>
                  <a:srgbClr val="D6E8E3"/>
                </a:solidFill>
                <a:effectLst/>
                <a:uFillTx/>
                <a:latin typeface="Arial"/>
              </a:rPr>
              <a:t>Resultados de 2007 a setembro de 2026</a:t>
            </a:r>
            <a:br>
              <a:rPr sz="1200"/>
            </a:br>
            <a:r>
              <a:rPr lang="en-US" sz="1200" b="0" u="none" strike="noStrike">
                <a:solidFill>
                  <a:srgbClr val="D6E8E3"/>
                </a:solidFill>
                <a:effectLst/>
                <a:uFillTx/>
                <a:latin typeface="Arial"/>
              </a:rPr>
              <a:t>Uma explicação simples dos modelos e dos achados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491040" y="5420520"/>
            <a:ext cx="8844840" cy="218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B9D1CB"/>
                </a:solidFill>
                <a:effectLst/>
                <a:uFillTx/>
                <a:latin typeface="Arial"/>
              </a:rPr>
              <a:t>BREVES • PREVISÃO MENSAL | 01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"/>
          <p:cNvSpPr/>
          <p:nvPr/>
        </p:nvSpPr>
        <p:spPr>
          <a:xfrm>
            <a:off x="0" y="0"/>
            <a:ext cx="10079280" cy="5670360"/>
          </a:xfrm>
          <a:prstGeom prst="rect">
            <a:avLst/>
          </a:prstGeom>
          <a:solidFill>
            <a:srgbClr val="F5F7F3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513720" y="317160"/>
            <a:ext cx="8996040" cy="552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05000"/>
              </a:lnSpc>
              <a:spcAft>
                <a:spcPts val="575"/>
              </a:spcAft>
            </a:pPr>
            <a:r>
              <a:rPr lang="en-US" sz="3100" b="1" u="none" strike="noStrike">
                <a:solidFill>
                  <a:srgbClr val="153B3B"/>
                </a:solidFill>
                <a:effectLst/>
                <a:uFillTx/>
                <a:latin typeface="Arial"/>
              </a:rPr>
              <a:t>A pergunta da pesquisa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529560" y="136080"/>
            <a:ext cx="3780000" cy="249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2000"/>
              </a:lnSpc>
              <a:spcAft>
                <a:spcPts val="289"/>
              </a:spcAft>
            </a:pPr>
            <a:r>
              <a:rPr lang="en-US" sz="1000" b="1" u="none" strike="noStrike">
                <a:solidFill>
                  <a:srgbClr val="277C74"/>
                </a:solidFill>
                <a:effectLst/>
                <a:uFillTx/>
                <a:latin typeface="Arial"/>
              </a:rPr>
              <a:t>PONTO DE PARTIDA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529560" y="793800"/>
            <a:ext cx="8996040" cy="377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  <a:spcAft>
                <a:spcPts val="360"/>
              </a:spcAft>
            </a:pPr>
            <a:r>
              <a:rPr lang="en-US" sz="1700" b="0" u="none" strike="noStrike">
                <a:solidFill>
                  <a:srgbClr val="547070"/>
                </a:solidFill>
                <a:effectLst/>
                <a:uFillTx/>
                <a:latin typeface="Arial"/>
              </a:rPr>
              <a:t>Usar notificações passadas para prever o próximo mês.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543960" y="1360800"/>
            <a:ext cx="8981280" cy="892440"/>
          </a:xfrm>
          <a:prstGeom prst="rect">
            <a:avLst/>
          </a:prstGeom>
          <a:solidFill>
            <a:srgbClr val="DDEDE8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770760" y="1542600"/>
            <a:ext cx="8505000" cy="506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08000"/>
              </a:lnSpc>
              <a:spcAft>
                <a:spcPts val="575"/>
              </a:spcAft>
            </a:pPr>
            <a:r>
              <a:rPr lang="en-US" sz="1700" b="1" u="none" strike="noStrike">
                <a:solidFill>
                  <a:srgbClr val="153B3B"/>
                </a:solidFill>
                <a:effectLst/>
                <a:uFillTx/>
                <a:latin typeface="Arial"/>
              </a:rPr>
              <a:t>Qual método prevê melhor a contagem mensal de notificações em Breves?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543960" y="2532960"/>
            <a:ext cx="2797200" cy="10807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680400" y="2721240"/>
            <a:ext cx="2494440" cy="474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Aft>
                <a:spcPts val="215"/>
              </a:spcAft>
            </a:pPr>
            <a:r>
              <a:rPr lang="en-US" sz="2700" b="1" u="none" strike="noStrike">
                <a:solidFill>
                  <a:srgbClr val="277C74"/>
                </a:solidFill>
                <a:effectLst/>
                <a:uFillTx/>
                <a:latin typeface="Arial"/>
              </a:rPr>
              <a:t>237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695880" y="3205080"/>
            <a:ext cx="2479680" cy="27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08000"/>
              </a:lnSpc>
              <a:spcAft>
                <a:spcPts val="215"/>
              </a:spcAft>
            </a:pPr>
            <a:r>
              <a:rPr lang="en-US" sz="1200" b="0" u="none" strike="noStrike">
                <a:solidFill>
                  <a:srgbClr val="547070"/>
                </a:solidFill>
                <a:effectLst/>
                <a:uFillTx/>
                <a:latin typeface="Arial"/>
              </a:rPr>
              <a:t>meses completos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3643920" y="2532960"/>
            <a:ext cx="2797200" cy="10807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3780000" y="2721240"/>
            <a:ext cx="2494440" cy="474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Aft>
                <a:spcPts val="215"/>
              </a:spcAft>
            </a:pPr>
            <a:r>
              <a:rPr lang="en-US" sz="2700" b="1" u="none" strike="noStrike">
                <a:solidFill>
                  <a:srgbClr val="277C74"/>
                </a:solidFill>
                <a:effectLst/>
                <a:uFillTx/>
                <a:latin typeface="Arial"/>
              </a:rPr>
              <a:t>30.236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3794760" y="3205080"/>
            <a:ext cx="2479680" cy="27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08000"/>
              </a:lnSpc>
              <a:spcAft>
                <a:spcPts val="215"/>
              </a:spcAft>
            </a:pPr>
            <a:r>
              <a:rPr lang="en-US" sz="1200" b="0" u="none" strike="noStrike">
                <a:solidFill>
                  <a:srgbClr val="547070"/>
                </a:solidFill>
                <a:effectLst/>
                <a:uFillTx/>
                <a:latin typeface="Arial"/>
              </a:rPr>
              <a:t>notificações somadas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6743880" y="2532960"/>
            <a:ext cx="2797200" cy="10807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6878880" y="2721240"/>
            <a:ext cx="2494440" cy="474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Aft>
                <a:spcPts val="215"/>
              </a:spcAft>
            </a:pPr>
            <a:r>
              <a:rPr lang="en-US" sz="2700" b="1" u="none" strike="noStrike">
                <a:solidFill>
                  <a:srgbClr val="277C74"/>
                </a:solidFill>
                <a:effectLst/>
                <a:uFillTx/>
                <a:latin typeface="Arial"/>
              </a:rPr>
              <a:t>2007–2026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6894720" y="3205080"/>
            <a:ext cx="2479680" cy="458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08000"/>
              </a:lnSpc>
              <a:spcAft>
                <a:spcPts val="215"/>
              </a:spcAft>
            </a:pPr>
            <a:r>
              <a:rPr lang="en-US" sz="1200" b="0" u="none" strike="noStrike">
                <a:solidFill>
                  <a:srgbClr val="547070"/>
                </a:solidFill>
                <a:effectLst/>
                <a:uFillTx/>
                <a:latin typeface="Arial"/>
              </a:rPr>
              <a:t>janeiro de 2007 a setembro de 2026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543960" y="3855240"/>
            <a:ext cx="8981280" cy="892440"/>
          </a:xfrm>
          <a:prstGeom prst="rect">
            <a:avLst/>
          </a:prstGeom>
          <a:solidFill>
            <a:srgbClr val="FCE9D9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740520" y="4014360"/>
            <a:ext cx="8557920" cy="622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8000"/>
              </a:lnSpc>
              <a:spcAft>
                <a:spcPts val="720"/>
              </a:spcAft>
            </a:pPr>
            <a:r>
              <a:rPr lang="en-US" sz="1600" b="0" u="none" strike="noStrike">
                <a:solidFill>
                  <a:srgbClr val="153B3B"/>
                </a:solidFill>
                <a:effectLst/>
                <a:uFillTx/>
                <a:latin typeface="Arial"/>
              </a:rPr>
              <a:t>Os modelos receberam somente contagens passadas e o mês do ano. Outubro de 2026 ficou de fora por estar incompleto; chuva e temperatura não foram usadas.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491040" y="5420520"/>
            <a:ext cx="8844840" cy="218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547070"/>
                </a:solidFill>
                <a:effectLst/>
                <a:uFillTx/>
                <a:latin typeface="Arial"/>
              </a:rPr>
              <a:t>BREVES • PREVISÃO MENSAL | 02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"/>
          <p:cNvSpPr/>
          <p:nvPr/>
        </p:nvSpPr>
        <p:spPr>
          <a:xfrm>
            <a:off x="0" y="0"/>
            <a:ext cx="10079280" cy="5670360"/>
          </a:xfrm>
          <a:prstGeom prst="rect">
            <a:avLst/>
          </a:prstGeom>
          <a:solidFill>
            <a:srgbClr val="F5F7F3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513720" y="317160"/>
            <a:ext cx="8996040" cy="552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05000"/>
              </a:lnSpc>
              <a:spcAft>
                <a:spcPts val="575"/>
              </a:spcAft>
            </a:pPr>
            <a:r>
              <a:rPr lang="en-US" sz="3100" b="1" u="none" strike="noStrike">
                <a:solidFill>
                  <a:srgbClr val="153B3B"/>
                </a:solidFill>
                <a:effectLst/>
                <a:uFillTx/>
                <a:latin typeface="Arial"/>
              </a:rPr>
              <a:t>Como testamos sem olhar o futuro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529560" y="136080"/>
            <a:ext cx="3780000" cy="249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2000"/>
              </a:lnSpc>
              <a:spcAft>
                <a:spcPts val="289"/>
              </a:spcAft>
            </a:pPr>
            <a:r>
              <a:rPr lang="en-US" sz="1000" b="1" u="none" strike="noStrike">
                <a:solidFill>
                  <a:srgbClr val="277C74"/>
                </a:solidFill>
                <a:effectLst/>
                <a:uFillTx/>
                <a:latin typeface="Arial"/>
              </a:rPr>
              <a:t>COMO FUNCIONA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529560" y="793800"/>
            <a:ext cx="8996040" cy="377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  <a:spcAft>
                <a:spcPts val="360"/>
              </a:spcAft>
            </a:pPr>
            <a:r>
              <a:rPr lang="en-US" sz="1700" b="0" u="none" strike="noStrike">
                <a:solidFill>
                  <a:srgbClr val="547070"/>
                </a:solidFill>
                <a:effectLst/>
                <a:uFillTx/>
                <a:latin typeface="Arial"/>
              </a:rPr>
              <a:t>O teste imita uma previsão feita mês após mês.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619920" y="1549800"/>
            <a:ext cx="8694000" cy="136080"/>
          </a:xfrm>
          <a:prstGeom prst="rect">
            <a:avLst/>
          </a:prstGeom>
          <a:solidFill>
            <a:srgbClr val="C8D8D3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756360" y="1360800"/>
            <a:ext cx="529560" cy="529560"/>
          </a:xfrm>
          <a:prstGeom prst="ellipse">
            <a:avLst/>
          </a:prstGeom>
          <a:solidFill>
            <a:srgbClr val="277C74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876960" y="1496880"/>
            <a:ext cx="287280" cy="312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>
              <a:lnSpc>
                <a:spcPct val="105000"/>
              </a:lnSpc>
              <a:spcAft>
                <a:spcPts val="289"/>
              </a:spcAft>
            </a:pPr>
            <a:r>
              <a:rPr lang="en-US" sz="1500" b="1" u="none" strike="noStrike">
                <a:solidFill>
                  <a:srgbClr val="153B3B"/>
                </a:solidFill>
                <a:effectLst/>
                <a:uFillTx/>
                <a:latin typeface="Arial"/>
              </a:rPr>
              <a:t>1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726120" y="2116800"/>
            <a:ext cx="2607840" cy="351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08000"/>
              </a:lnSpc>
              <a:spcAft>
                <a:spcPts val="575"/>
              </a:spcAft>
            </a:pPr>
            <a:r>
              <a:rPr lang="en-US" sz="1700" b="1" u="none" strike="noStrike">
                <a:solidFill>
                  <a:srgbClr val="153B3B"/>
                </a:solidFill>
                <a:effectLst/>
                <a:uFillTx/>
                <a:latin typeface="Arial"/>
              </a:rPr>
              <a:t>Aprender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726120" y="2517480"/>
            <a:ext cx="2683800" cy="779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  <a:spcAft>
                <a:spcPts val="505"/>
              </a:spcAft>
            </a:pPr>
            <a:r>
              <a:rPr lang="en-US" sz="1200" b="0" u="none" strike="noStrike">
                <a:solidFill>
                  <a:srgbClr val="547070"/>
                </a:solidFill>
                <a:effectLst/>
                <a:uFillTx/>
                <a:latin typeface="Arial"/>
              </a:rPr>
              <a:t>Usar meses antigos para</a:t>
            </a:r>
            <a:br>
              <a:rPr sz="1200"/>
            </a:br>
            <a:r>
              <a:rPr lang="en-US" sz="1200" b="0" u="none" strike="noStrike">
                <a:solidFill>
                  <a:srgbClr val="547070"/>
                </a:solidFill>
                <a:effectLst/>
                <a:uFillTx/>
                <a:latin typeface="Arial"/>
              </a:rPr>
              <a:t>identificar padrões.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3741840" y="1360800"/>
            <a:ext cx="529560" cy="529560"/>
          </a:xfrm>
          <a:prstGeom prst="ellipse">
            <a:avLst/>
          </a:prstGeom>
          <a:solidFill>
            <a:srgbClr val="277C74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3863520" y="1496880"/>
            <a:ext cx="287280" cy="312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>
              <a:lnSpc>
                <a:spcPct val="105000"/>
              </a:lnSpc>
              <a:spcAft>
                <a:spcPts val="289"/>
              </a:spcAft>
            </a:pPr>
            <a:r>
              <a:rPr lang="en-US" sz="1500" b="1" u="none" strike="noStrike">
                <a:solidFill>
                  <a:srgbClr val="153B3B"/>
                </a:solidFill>
                <a:effectLst/>
                <a:uFillTx/>
                <a:latin typeface="Arial"/>
              </a:rPr>
              <a:t>2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3711600" y="2116800"/>
            <a:ext cx="2607840" cy="351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08000"/>
              </a:lnSpc>
              <a:spcAft>
                <a:spcPts val="575"/>
              </a:spcAft>
            </a:pPr>
            <a:r>
              <a:rPr lang="en-US" sz="1700" b="1" u="none" strike="noStrike">
                <a:solidFill>
                  <a:srgbClr val="153B3B"/>
                </a:solidFill>
                <a:effectLst/>
                <a:uFillTx/>
                <a:latin typeface="Arial"/>
              </a:rPr>
              <a:t>Prever um mês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3711600" y="2517480"/>
            <a:ext cx="2683800" cy="779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  <a:spcAft>
                <a:spcPts val="505"/>
              </a:spcAft>
            </a:pPr>
            <a:r>
              <a:rPr lang="en-US" sz="1200" b="0" u="none" strike="noStrike">
                <a:solidFill>
                  <a:srgbClr val="547070"/>
                </a:solidFill>
                <a:effectLst/>
                <a:uFillTx/>
                <a:latin typeface="Arial"/>
              </a:rPr>
              <a:t>Estimar o mês seguinte</a:t>
            </a:r>
            <a:br>
              <a:rPr sz="1200"/>
            </a:br>
            <a:r>
              <a:rPr lang="en-US" sz="1200" b="0" u="none" strike="noStrike">
                <a:solidFill>
                  <a:srgbClr val="547070"/>
                </a:solidFill>
                <a:effectLst/>
                <a:uFillTx/>
                <a:latin typeface="Arial"/>
              </a:rPr>
              <a:t>com o que já era conhecido.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6728040" y="1360800"/>
            <a:ext cx="529560" cy="529560"/>
          </a:xfrm>
          <a:prstGeom prst="ellipse">
            <a:avLst/>
          </a:prstGeom>
          <a:solidFill>
            <a:srgbClr val="277C74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6849000" y="1496880"/>
            <a:ext cx="287280" cy="312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>
              <a:lnSpc>
                <a:spcPct val="105000"/>
              </a:lnSpc>
              <a:spcAft>
                <a:spcPts val="289"/>
              </a:spcAft>
            </a:pPr>
            <a:r>
              <a:rPr lang="en-US" sz="1500" b="1" u="none" strike="noStrike">
                <a:solidFill>
                  <a:srgbClr val="153B3B"/>
                </a:solidFill>
                <a:effectLst/>
                <a:uFillTx/>
                <a:latin typeface="Arial"/>
              </a:rPr>
              <a:t>3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6698160" y="2116800"/>
            <a:ext cx="2607840" cy="351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08000"/>
              </a:lnSpc>
              <a:spcAft>
                <a:spcPts val="575"/>
              </a:spcAft>
            </a:pPr>
            <a:r>
              <a:rPr lang="en-US" sz="1700" b="1" u="none" strike="noStrike">
                <a:solidFill>
                  <a:srgbClr val="153B3B"/>
                </a:solidFill>
                <a:effectLst/>
                <a:uFillTx/>
                <a:latin typeface="Arial"/>
              </a:rPr>
              <a:t>Atualizar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6698160" y="2517480"/>
            <a:ext cx="2683800" cy="779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  <a:spcAft>
                <a:spcPts val="505"/>
              </a:spcAft>
            </a:pPr>
            <a:r>
              <a:rPr lang="en-US" sz="1200" b="0" u="none" strike="noStrike">
                <a:solidFill>
                  <a:srgbClr val="547070"/>
                </a:solidFill>
                <a:effectLst/>
                <a:uFillTx/>
                <a:latin typeface="Arial"/>
              </a:rPr>
              <a:t>Quando o valor real chega,</a:t>
            </a:r>
            <a:br>
              <a:rPr sz="1200"/>
            </a:br>
            <a:r>
              <a:rPr lang="en-US" sz="1200" b="0" u="none" strike="noStrike">
                <a:solidFill>
                  <a:srgbClr val="547070"/>
                </a:solidFill>
                <a:effectLst/>
                <a:uFillTx/>
                <a:latin typeface="Arial"/>
              </a:rPr>
              <a:t>ele entra no mês seguinte.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619920" y="3591000"/>
            <a:ext cx="4195440" cy="1036080"/>
          </a:xfrm>
          <a:prstGeom prst="rect">
            <a:avLst/>
          </a:prstGeom>
          <a:solidFill>
            <a:srgbClr val="DDEDE8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770760" y="3727080"/>
            <a:ext cx="3893400" cy="881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08000"/>
              </a:lnSpc>
              <a:spcAft>
                <a:spcPts val="575"/>
              </a:spcAft>
            </a:pPr>
            <a:r>
              <a:rPr lang="en-US" sz="1700" b="1" u="none" strike="noStrike">
                <a:solidFill>
                  <a:srgbClr val="153B3B"/>
                </a:solidFill>
                <a:effectLst/>
                <a:uFillTx/>
                <a:latin typeface="Arial"/>
              </a:rPr>
              <a:t>Comparação principal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505"/>
              </a:spcAft>
            </a:pPr>
            <a:r>
              <a:rPr lang="en-US" sz="1200" b="0" u="none" strike="noStrike">
                <a:solidFill>
                  <a:srgbClr val="547070"/>
                </a:solidFill>
                <a:effectLst/>
                <a:uFillTx/>
                <a:latin typeface="Arial"/>
              </a:rPr>
              <a:t>112 meses para desenvolvimento • 113 para teste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505"/>
              </a:spcAft>
            </a:pPr>
            <a:r>
              <a:rPr lang="en-US" sz="1200" b="0" u="none" strike="noStrike">
                <a:solidFill>
                  <a:srgbClr val="547070"/>
                </a:solidFill>
                <a:effectLst/>
                <a:uFillTx/>
                <a:latin typeface="Arial"/>
              </a:rPr>
              <a:t>Teste de maio de 2017 a setembro de 2026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5117760" y="3591000"/>
            <a:ext cx="4195440" cy="1036080"/>
          </a:xfrm>
          <a:prstGeom prst="rect">
            <a:avLst/>
          </a:prstGeom>
          <a:solidFill>
            <a:srgbClr val="E3EEF3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5268600" y="3727080"/>
            <a:ext cx="3893400" cy="1077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08000"/>
              </a:lnSpc>
              <a:spcAft>
                <a:spcPts val="575"/>
              </a:spcAft>
            </a:pPr>
            <a:r>
              <a:rPr lang="en-US" sz="1700" b="1" u="none" strike="noStrike">
                <a:solidFill>
                  <a:srgbClr val="153B3B"/>
                </a:solidFill>
                <a:effectLst/>
                <a:uFillTx/>
                <a:latin typeface="Arial"/>
              </a:rPr>
              <a:t>O que isso significa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505"/>
              </a:spcAft>
            </a:pPr>
            <a:r>
              <a:rPr lang="en-US" sz="1200" b="0" u="none" strike="noStrike">
                <a:solidFill>
                  <a:srgbClr val="547070"/>
                </a:solidFill>
                <a:effectLst/>
                <a:uFillTx/>
                <a:latin typeface="Arial"/>
              </a:rPr>
              <a:t>Cada previsão olha só um mês adiante.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505"/>
              </a:spcAft>
            </a:pPr>
            <a:r>
              <a:rPr lang="en-US" sz="1200" b="0" u="none" strike="noStrike">
                <a:solidFill>
                  <a:srgbClr val="547070"/>
                </a:solidFill>
                <a:effectLst/>
                <a:uFillTx/>
                <a:latin typeface="Arial"/>
              </a:rPr>
              <a:t>Não é uma previsão de dez anos sem atualizar os dados.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491040" y="5420520"/>
            <a:ext cx="8844840" cy="218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547070"/>
                </a:solidFill>
                <a:effectLst/>
                <a:uFillTx/>
                <a:latin typeface="Arial"/>
              </a:rPr>
              <a:t>BREVES • PREVISÃO MENSAL | 03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"/>
          <p:cNvSpPr/>
          <p:nvPr/>
        </p:nvSpPr>
        <p:spPr>
          <a:xfrm>
            <a:off x="0" y="0"/>
            <a:ext cx="10079280" cy="5670360"/>
          </a:xfrm>
          <a:prstGeom prst="rect">
            <a:avLst/>
          </a:prstGeom>
          <a:solidFill>
            <a:srgbClr val="F5F7F3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513720" y="317160"/>
            <a:ext cx="8996040" cy="552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05000"/>
              </a:lnSpc>
              <a:spcAft>
                <a:spcPts val="575"/>
              </a:spcAft>
            </a:pPr>
            <a:r>
              <a:rPr lang="en-US" sz="3100" b="1" u="none" strike="noStrike">
                <a:solidFill>
                  <a:srgbClr val="153B3B"/>
                </a:solidFill>
                <a:effectLst/>
                <a:uFillTx/>
                <a:latin typeface="Arial"/>
              </a:rPr>
              <a:t>Os algoritmos, em palavras simples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529560" y="136080"/>
            <a:ext cx="3780000" cy="249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2000"/>
              </a:lnSpc>
              <a:spcAft>
                <a:spcPts val="289"/>
              </a:spcAft>
            </a:pPr>
            <a:r>
              <a:rPr lang="en-US" sz="1000" b="1" u="none" strike="noStrike">
                <a:solidFill>
                  <a:srgbClr val="277C74"/>
                </a:solidFill>
                <a:effectLst/>
                <a:uFillTx/>
                <a:latin typeface="Arial"/>
              </a:rPr>
              <a:t>RESUMO DOS MÉTODOS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529560" y="793800"/>
            <a:ext cx="8996040" cy="377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  <a:spcAft>
                <a:spcPts val="360"/>
              </a:spcAft>
            </a:pPr>
            <a:r>
              <a:rPr lang="en-US" sz="1700" b="0" u="none" strike="noStrike">
                <a:solidFill>
                  <a:srgbClr val="547070"/>
                </a:solidFill>
                <a:effectLst/>
                <a:uFillTx/>
                <a:latin typeface="Arial"/>
              </a:rPr>
              <a:t>Cada família procura um tipo diferente de padrão.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543960" y="1300320"/>
            <a:ext cx="2895120" cy="1534320"/>
          </a:xfrm>
          <a:prstGeom prst="rect">
            <a:avLst/>
          </a:prstGeom>
          <a:solidFill>
            <a:srgbClr val="DDEDE8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695880" y="1436400"/>
            <a:ext cx="2593080" cy="1307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08000"/>
              </a:lnSpc>
              <a:spcAft>
                <a:spcPts val="575"/>
              </a:spcAft>
            </a:pPr>
            <a:r>
              <a:rPr lang="en-US" sz="1700" b="1" u="none" strike="noStrike">
                <a:solidFill>
                  <a:srgbClr val="153B3B"/>
                </a:solidFill>
                <a:effectLst/>
                <a:uFillTx/>
                <a:latin typeface="Arial"/>
              </a:rPr>
              <a:t>Regras de referência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505"/>
              </a:spcAft>
            </a:pPr>
            <a:r>
              <a:rPr lang="en-US" sz="1200" b="0" u="none" strike="noStrike">
                <a:solidFill>
                  <a:srgbClr val="547070"/>
                </a:solidFill>
                <a:effectLst/>
                <a:uFillTx/>
                <a:latin typeface="Arial"/>
              </a:rPr>
              <a:t>Último mês: imagina que o próximo será parecido com o mais recente.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505"/>
              </a:spcAft>
            </a:pPr>
            <a:r>
              <a:rPr lang="en-US" sz="1200" b="0" u="none" strike="noStrike">
                <a:solidFill>
                  <a:srgbClr val="547070"/>
                </a:solidFill>
                <a:effectLst/>
                <a:uFillTx/>
                <a:latin typeface="Arial"/>
              </a:rPr>
              <a:t>Média de 3 meses: suaviza as subidas e descidas.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3591000" y="1300320"/>
            <a:ext cx="2895120" cy="1534320"/>
          </a:xfrm>
          <a:prstGeom prst="rect">
            <a:avLst/>
          </a:prstGeom>
          <a:solidFill>
            <a:srgbClr val="E3EEF3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3741840" y="1436400"/>
            <a:ext cx="2593080" cy="1731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08000"/>
              </a:lnSpc>
              <a:spcAft>
                <a:spcPts val="575"/>
              </a:spcAft>
            </a:pPr>
            <a:r>
              <a:rPr lang="en-US" sz="1700" b="1" u="none" strike="noStrike">
                <a:solidFill>
                  <a:srgbClr val="153B3B"/>
                </a:solidFill>
                <a:effectLst/>
                <a:uFillTx/>
                <a:latin typeface="Arial"/>
              </a:rPr>
              <a:t>Modelos de série temporal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505"/>
              </a:spcAft>
            </a:pPr>
            <a:r>
              <a:rPr lang="en-US" sz="1200" b="0" u="none" strike="noStrike">
                <a:solidFill>
                  <a:srgbClr val="547070"/>
                </a:solidFill>
                <a:effectLst/>
                <a:uFillTx/>
                <a:latin typeface="Arial"/>
              </a:rPr>
              <a:t>ETS, ARIMA e SARIMA acompanham tendências e mudanças ao longo do tempo.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505"/>
              </a:spcAft>
            </a:pPr>
            <a:r>
              <a:rPr lang="en-US" sz="1200" b="0" u="none" strike="noStrike">
                <a:solidFill>
                  <a:srgbClr val="547070"/>
                </a:solidFill>
                <a:effectLst/>
                <a:uFillTx/>
                <a:latin typeface="Arial"/>
              </a:rPr>
              <a:t>SARIMA também procura um padrão que se repete no ano.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6637680" y="1300320"/>
            <a:ext cx="2895120" cy="1534320"/>
          </a:xfrm>
          <a:prstGeom prst="rect">
            <a:avLst/>
          </a:prstGeom>
          <a:solidFill>
            <a:srgbClr val="FCE9D9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6788520" y="1436400"/>
            <a:ext cx="2593080" cy="1469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08000"/>
              </a:lnSpc>
              <a:spcAft>
                <a:spcPts val="575"/>
              </a:spcAft>
            </a:pPr>
            <a:r>
              <a:rPr lang="en-US" sz="1700" b="1" u="none" strike="noStrike">
                <a:solidFill>
                  <a:srgbClr val="153B3B"/>
                </a:solidFill>
                <a:effectLst/>
                <a:uFillTx/>
                <a:latin typeface="Arial"/>
              </a:rPr>
              <a:t>Modelos de contagem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505"/>
              </a:spcAft>
            </a:pPr>
            <a:r>
              <a:rPr lang="en-US" sz="1200" b="0" u="none" strike="noStrike">
                <a:solidFill>
                  <a:srgbClr val="547070"/>
                </a:solidFill>
                <a:effectLst/>
                <a:uFillTx/>
                <a:latin typeface="Arial"/>
              </a:rPr>
              <a:t>Poisson e binomial negativa usam meses anteriores para estimar uma contagem.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505"/>
              </a:spcAft>
            </a:pPr>
            <a:r>
              <a:rPr lang="en-US" sz="1200" b="0" u="none" strike="noStrike">
                <a:solidFill>
                  <a:srgbClr val="547070"/>
                </a:solidFill>
                <a:effectLst/>
                <a:uFillTx/>
                <a:latin typeface="Arial"/>
              </a:rPr>
              <a:t>A binomial negativa aceita mais variação nos dados.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543960" y="3061440"/>
            <a:ext cx="4407480" cy="15498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695880" y="3197520"/>
            <a:ext cx="4104720" cy="1535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08000"/>
              </a:lnSpc>
              <a:spcAft>
                <a:spcPts val="575"/>
              </a:spcAft>
            </a:pPr>
            <a:r>
              <a:rPr lang="en-US" sz="1700" b="1" u="none" strike="noStrike">
                <a:solidFill>
                  <a:srgbClr val="153B3B"/>
                </a:solidFill>
                <a:effectLst/>
                <a:uFillTx/>
                <a:latin typeface="Arial"/>
              </a:rPr>
              <a:t>INGARCH: contagem que depende da contagem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505"/>
              </a:spcAft>
            </a:pPr>
            <a:r>
              <a:rPr lang="en-US" sz="1200" b="0" u="none" strike="noStrike">
                <a:solidFill>
                  <a:srgbClr val="547070"/>
                </a:solidFill>
                <a:effectLst/>
                <a:uFillTx/>
                <a:latin typeface="Arial"/>
              </a:rPr>
              <a:t>Considera o valor real do mês anterior e a previsão que o próprio modelo tinha feito.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505"/>
              </a:spcAft>
            </a:pPr>
            <a:r>
              <a:rPr lang="en-US" sz="1200" b="0" u="none" strike="noStrike">
                <a:solidFill>
                  <a:srgbClr val="547070"/>
                </a:solidFill>
                <a:effectLst/>
                <a:uFillTx/>
                <a:latin typeface="Arial"/>
              </a:rPr>
              <a:t>Testamos versões Poisson e binomial negativa, com um ciclo anual simples.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5125320" y="3061440"/>
            <a:ext cx="4407480" cy="15498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5276880" y="3197520"/>
            <a:ext cx="4104720" cy="1323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08000"/>
              </a:lnSpc>
              <a:spcAft>
                <a:spcPts val="575"/>
              </a:spcAft>
            </a:pPr>
            <a:r>
              <a:rPr lang="en-US" sz="1700" b="1" u="none" strike="noStrike">
                <a:solidFill>
                  <a:srgbClr val="153B3B"/>
                </a:solidFill>
                <a:effectLst/>
                <a:uFillTx/>
                <a:latin typeface="Arial"/>
              </a:rPr>
              <a:t>Aprendizado de máquina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505"/>
              </a:spcAft>
            </a:pPr>
            <a:r>
              <a:rPr lang="en-US" sz="1200" b="0" u="none" strike="noStrike">
                <a:solidFill>
                  <a:srgbClr val="547070"/>
                </a:solidFill>
                <a:effectLst/>
                <a:uFillTx/>
                <a:latin typeface="Arial"/>
              </a:rPr>
              <a:t>Random Forest combina muitas regras pequenas; boosting corrige erros aos poucos.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505"/>
              </a:spcAft>
            </a:pPr>
            <a:r>
              <a:rPr lang="en-US" sz="1200" b="0" u="none" strike="noStrike">
                <a:solidFill>
                  <a:srgbClr val="547070"/>
                </a:solidFill>
                <a:effectLst/>
                <a:uFillTx/>
                <a:latin typeface="Arial"/>
              </a:rPr>
              <a:t>SVR encontra uma curva que acompanha os padrões, mesmo quando não são retos.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491040" y="5420520"/>
            <a:ext cx="8844840" cy="218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547070"/>
                </a:solidFill>
                <a:effectLst/>
                <a:uFillTx/>
                <a:latin typeface="Arial"/>
              </a:rPr>
              <a:t>BREVES • PREVISÃO MENSAL | 04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"/>
          <p:cNvSpPr/>
          <p:nvPr/>
        </p:nvSpPr>
        <p:spPr>
          <a:xfrm>
            <a:off x="0" y="0"/>
            <a:ext cx="10079280" cy="5670360"/>
          </a:xfrm>
          <a:prstGeom prst="rect">
            <a:avLst/>
          </a:prstGeom>
          <a:solidFill>
            <a:srgbClr val="F5F7F3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513720" y="317160"/>
            <a:ext cx="8996040" cy="552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05000"/>
              </a:lnSpc>
              <a:spcAft>
                <a:spcPts val="575"/>
              </a:spcAft>
            </a:pPr>
            <a:r>
              <a:rPr lang="en-US" sz="3100" b="1" u="none" strike="noStrike">
                <a:solidFill>
                  <a:srgbClr val="153B3B"/>
                </a:solidFill>
                <a:effectLst/>
                <a:uFillTx/>
                <a:latin typeface="Arial"/>
              </a:rPr>
              <a:t>O que muda de um algoritmo para outro?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529560" y="136080"/>
            <a:ext cx="3780000" cy="249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2000"/>
              </a:lnSpc>
              <a:spcAft>
                <a:spcPts val="289"/>
              </a:spcAft>
            </a:pPr>
            <a:r>
              <a:rPr lang="en-US" sz="1000" b="1" u="none" strike="noStrike">
                <a:solidFill>
                  <a:srgbClr val="277C74"/>
                </a:solidFill>
                <a:effectLst/>
                <a:uFillTx/>
                <a:latin typeface="Arial"/>
              </a:rPr>
              <a:t>RESUMO DOS MÉTODOS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529560" y="793800"/>
            <a:ext cx="8996040" cy="377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  <a:spcAft>
                <a:spcPts val="360"/>
              </a:spcAft>
            </a:pPr>
            <a:r>
              <a:rPr lang="en-US" sz="1700" b="0" u="none" strike="noStrike">
                <a:solidFill>
                  <a:srgbClr val="547070"/>
                </a:solidFill>
                <a:effectLst/>
                <a:uFillTx/>
                <a:latin typeface="Arial"/>
              </a:rPr>
              <a:t>Um exemplo simples: todos recebem o mesmo histórico, mas fazem contas diferentes.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543960" y="1398240"/>
            <a:ext cx="2895120" cy="2509920"/>
          </a:xfrm>
          <a:prstGeom prst="rect">
            <a:avLst/>
          </a:prstGeom>
          <a:solidFill>
            <a:srgbClr val="FCE9D9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695880" y="1534320"/>
            <a:ext cx="2593080" cy="2378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08000"/>
              </a:lnSpc>
              <a:spcAft>
                <a:spcPts val="575"/>
              </a:spcAft>
            </a:pPr>
            <a:r>
              <a:rPr lang="en-US" sz="1700" b="1" u="none" strike="noStrike">
                <a:solidFill>
                  <a:srgbClr val="153B3B"/>
                </a:solidFill>
                <a:effectLst/>
                <a:uFillTx/>
                <a:latin typeface="Arial"/>
              </a:rPr>
              <a:t>Poisson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8000"/>
              </a:lnSpc>
              <a:spcAft>
                <a:spcPts val="720"/>
              </a:spcAft>
            </a:pPr>
            <a:r>
              <a:rPr lang="en-US" sz="1600" b="0" u="none" strike="noStrike">
                <a:solidFill>
                  <a:srgbClr val="153B3B"/>
                </a:solidFill>
                <a:effectLst/>
                <a:uFillTx/>
                <a:latin typeface="Arial"/>
              </a:rPr>
              <a:t>Pensa na quantidade esperada e supõe que as oscilações ficam próximas dessa expectativa.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8000"/>
              </a:lnSpc>
              <a:spcAft>
                <a:spcPts val="720"/>
              </a:spcAft>
            </a:pPr>
            <a:r>
              <a:rPr lang="en-US" sz="1600" b="0" u="none" strike="noStrike">
                <a:solidFill>
                  <a:srgbClr val="153B3B"/>
                </a:solidFill>
                <a:effectLst/>
                <a:uFillTx/>
                <a:latin typeface="Arial"/>
              </a:rPr>
              <a:t>Foi uma referência importante para prever contagens.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3591000" y="1398240"/>
            <a:ext cx="2895120" cy="2509920"/>
          </a:xfrm>
          <a:prstGeom prst="rect">
            <a:avLst/>
          </a:prstGeom>
          <a:solidFill>
            <a:srgbClr val="DDEDE8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3741840" y="1534320"/>
            <a:ext cx="2593080" cy="2378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08000"/>
              </a:lnSpc>
              <a:spcAft>
                <a:spcPts val="575"/>
              </a:spcAft>
            </a:pPr>
            <a:r>
              <a:rPr lang="en-US" sz="1700" b="1" u="none" strike="noStrike">
                <a:solidFill>
                  <a:srgbClr val="153B3B"/>
                </a:solidFill>
                <a:effectLst/>
                <a:uFillTx/>
                <a:latin typeface="Arial"/>
              </a:rPr>
              <a:t>Binomial negativa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8000"/>
              </a:lnSpc>
              <a:spcAft>
                <a:spcPts val="720"/>
              </a:spcAft>
            </a:pPr>
            <a:r>
              <a:rPr lang="en-US" sz="1600" b="0" u="none" strike="noStrike">
                <a:solidFill>
                  <a:srgbClr val="153B3B"/>
                </a:solidFill>
                <a:effectLst/>
                <a:uFillTx/>
                <a:latin typeface="Arial"/>
              </a:rPr>
              <a:t>Também prevê uma contagem, mas permite oscilações maiores que a média.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8000"/>
              </a:lnSpc>
              <a:spcAft>
                <a:spcPts val="720"/>
              </a:spcAft>
            </a:pPr>
            <a:r>
              <a:rPr lang="en-US" sz="1600" b="0" u="none" strike="noStrike">
                <a:solidFill>
                  <a:srgbClr val="153B3B"/>
                </a:solidFill>
                <a:effectLst/>
                <a:uFillTx/>
                <a:latin typeface="Arial"/>
              </a:rPr>
              <a:t>Isso pode ajudar quando há meses muito altos e muito baixos.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6637680" y="1398240"/>
            <a:ext cx="2895120" cy="2509920"/>
          </a:xfrm>
          <a:prstGeom prst="rect">
            <a:avLst/>
          </a:prstGeom>
          <a:solidFill>
            <a:srgbClr val="E3EEF3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6788520" y="1534320"/>
            <a:ext cx="2593080" cy="2910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08000"/>
              </a:lnSpc>
              <a:spcAft>
                <a:spcPts val="575"/>
              </a:spcAft>
            </a:pPr>
            <a:r>
              <a:rPr lang="en-US" sz="1700" b="1" u="none" strike="noStrike">
                <a:solidFill>
                  <a:srgbClr val="153B3B"/>
                </a:solidFill>
                <a:effectLst/>
                <a:uFillTx/>
                <a:latin typeface="Arial"/>
              </a:rPr>
              <a:t>SVR, Forest e Boosting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8000"/>
              </a:lnSpc>
              <a:spcAft>
                <a:spcPts val="720"/>
              </a:spcAft>
            </a:pPr>
            <a:r>
              <a:rPr lang="en-US" sz="1600" b="0" u="none" strike="noStrike">
                <a:solidFill>
                  <a:srgbClr val="153B3B"/>
                </a:solidFill>
                <a:effectLst/>
                <a:uFillTx/>
                <a:latin typeface="Arial"/>
              </a:rPr>
              <a:t>Aprendem relações entre meses anteriores e o mês previsto.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8000"/>
              </a:lnSpc>
              <a:spcAft>
                <a:spcPts val="720"/>
              </a:spcAft>
            </a:pPr>
            <a:r>
              <a:rPr lang="en-US" sz="1600" b="0" u="none" strike="noStrike">
                <a:solidFill>
                  <a:srgbClr val="153B3B"/>
                </a:solidFill>
                <a:effectLst/>
                <a:uFillTx/>
                <a:latin typeface="Arial"/>
              </a:rPr>
              <a:t>O SVR foi o destaque pontual na divisão principal; Forest e boosting são outras formas de aprender regras.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543960" y="4195440"/>
            <a:ext cx="8981280" cy="574200"/>
          </a:xfrm>
          <a:prstGeom prst="rect">
            <a:avLst/>
          </a:prstGeom>
          <a:solidFill>
            <a:srgbClr val="0E3034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726120" y="4324320"/>
            <a:ext cx="8557920" cy="622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8000"/>
              </a:lnSpc>
              <a:spcAft>
                <a:spcPts val="720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Analogia: são ferramentas diferentes tentando resolver a mesma tarefa com os mesmos dados.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491040" y="5420520"/>
            <a:ext cx="8844840" cy="218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547070"/>
                </a:solidFill>
                <a:effectLst/>
                <a:uFillTx/>
                <a:latin typeface="Arial"/>
              </a:rPr>
              <a:t>BREVES • PREVISÃO MENSAL | 05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"/>
          <p:cNvSpPr/>
          <p:nvPr/>
        </p:nvSpPr>
        <p:spPr>
          <a:xfrm>
            <a:off x="0" y="0"/>
            <a:ext cx="10079280" cy="5670360"/>
          </a:xfrm>
          <a:prstGeom prst="rect">
            <a:avLst/>
          </a:prstGeom>
          <a:solidFill>
            <a:srgbClr val="F5F7F3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513720" y="317160"/>
            <a:ext cx="8996040" cy="552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05000"/>
              </a:lnSpc>
              <a:spcAft>
                <a:spcPts val="575"/>
              </a:spcAft>
            </a:pPr>
            <a:r>
              <a:rPr lang="en-US" sz="3100" b="1" u="none" strike="noStrike">
                <a:solidFill>
                  <a:srgbClr val="153B3B"/>
                </a:solidFill>
                <a:effectLst/>
                <a:uFillTx/>
                <a:latin typeface="Arial"/>
              </a:rPr>
              <a:t>Na divisão principal, o SVR teve menor erro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529560" y="136080"/>
            <a:ext cx="3780000" cy="249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2000"/>
              </a:lnSpc>
              <a:spcAft>
                <a:spcPts val="289"/>
              </a:spcAft>
            </a:pPr>
            <a:r>
              <a:rPr lang="en-US" sz="1000" b="1" u="none" strike="noStrike">
                <a:solidFill>
                  <a:srgbClr val="277C74"/>
                </a:solidFill>
                <a:effectLst/>
                <a:uFillTx/>
                <a:latin typeface="Arial"/>
              </a:rPr>
              <a:t>RESULTADOS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529560" y="793800"/>
            <a:ext cx="8996040" cy="377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  <a:spcAft>
                <a:spcPts val="360"/>
              </a:spcAft>
            </a:pPr>
            <a:r>
              <a:rPr lang="en-US" sz="1700" b="0" u="none" strike="noStrike">
                <a:solidFill>
                  <a:srgbClr val="547070"/>
                </a:solidFill>
                <a:effectLst/>
                <a:uFillTx/>
                <a:latin typeface="Arial"/>
              </a:rPr>
              <a:t>Menor MAE = menor diferença média entre previsão e valor observado.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642960" y="1511640"/>
            <a:ext cx="1829880" cy="299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05000"/>
              </a:lnSpc>
              <a:spcAft>
                <a:spcPts val="71"/>
              </a:spcAft>
            </a:pPr>
            <a:r>
              <a:rPr lang="en-US" sz="1400" b="1" u="none" strike="noStrike">
                <a:solidFill>
                  <a:srgbClr val="153B3B"/>
                </a:solidFill>
                <a:effectLst/>
                <a:uFillTx/>
                <a:latin typeface="Arial"/>
              </a:rPr>
              <a:t>SVR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>
            <a:off x="2554920" y="1473840"/>
            <a:ext cx="4421880" cy="362880"/>
          </a:xfrm>
          <a:prstGeom prst="rect">
            <a:avLst/>
          </a:prstGeom>
          <a:solidFill>
            <a:srgbClr val="DDEDE8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2554920" y="1473840"/>
            <a:ext cx="3415320" cy="362880"/>
          </a:xfrm>
          <a:prstGeom prst="rect">
            <a:avLst/>
          </a:prstGeom>
          <a:solidFill>
            <a:srgbClr val="277C74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7105680" y="1504080"/>
            <a:ext cx="793800" cy="302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Aft>
                <a:spcPts val="71"/>
              </a:spcAft>
            </a:pPr>
            <a:r>
              <a:rPr lang="en-US" sz="1500" b="1" u="none" strike="noStrike">
                <a:solidFill>
                  <a:srgbClr val="153B3B"/>
                </a:solidFill>
                <a:effectLst/>
                <a:uFillTx/>
                <a:latin typeface="Arial"/>
              </a:rPr>
              <a:t>24.71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642960" y="2192760"/>
            <a:ext cx="1829880" cy="299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05000"/>
              </a:lnSpc>
              <a:spcAft>
                <a:spcPts val="71"/>
              </a:spcAft>
            </a:pPr>
            <a:r>
              <a:rPr lang="en-US" sz="1400" b="1" u="none" strike="noStrike">
                <a:solidFill>
                  <a:srgbClr val="153B3B"/>
                </a:solidFill>
                <a:effectLst/>
                <a:uFillTx/>
                <a:latin typeface="Arial"/>
              </a:rPr>
              <a:t>Último mês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2554920" y="2154240"/>
            <a:ext cx="4421880" cy="362880"/>
          </a:xfrm>
          <a:prstGeom prst="rect">
            <a:avLst/>
          </a:prstGeom>
          <a:solidFill>
            <a:srgbClr val="DDEDE8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2554920" y="2154240"/>
            <a:ext cx="3740760" cy="362880"/>
          </a:xfrm>
          <a:prstGeom prst="rect">
            <a:avLst/>
          </a:prstGeom>
          <a:solidFill>
            <a:srgbClr val="E98B45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7105680" y="2184480"/>
            <a:ext cx="793800" cy="302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Aft>
                <a:spcPts val="71"/>
              </a:spcAft>
            </a:pPr>
            <a:r>
              <a:rPr lang="en-US" sz="1500" b="1" u="none" strike="noStrike">
                <a:solidFill>
                  <a:srgbClr val="153B3B"/>
                </a:solidFill>
                <a:effectLst/>
                <a:uFillTx/>
                <a:latin typeface="Arial"/>
              </a:rPr>
              <a:t>27.07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642960" y="2873160"/>
            <a:ext cx="1829880" cy="299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05000"/>
              </a:lnSpc>
              <a:spcAft>
                <a:spcPts val="71"/>
              </a:spcAft>
            </a:pPr>
            <a:r>
              <a:rPr lang="en-US" sz="1400" b="1" u="none" strike="noStrike">
                <a:solidFill>
                  <a:srgbClr val="153B3B"/>
                </a:solidFill>
                <a:effectLst/>
                <a:uFillTx/>
                <a:latin typeface="Arial"/>
              </a:rPr>
              <a:t>SARIMA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2554920" y="2834640"/>
            <a:ext cx="4421880" cy="362880"/>
          </a:xfrm>
          <a:prstGeom prst="rect">
            <a:avLst/>
          </a:prstGeom>
          <a:solidFill>
            <a:srgbClr val="DDEDE8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2554920" y="2834640"/>
            <a:ext cx="3813120" cy="362880"/>
          </a:xfrm>
          <a:prstGeom prst="rect">
            <a:avLst/>
          </a:prstGeom>
          <a:solidFill>
            <a:srgbClr val="4B83A3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7105680" y="2864880"/>
            <a:ext cx="793800" cy="302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Aft>
                <a:spcPts val="71"/>
              </a:spcAft>
            </a:pPr>
            <a:r>
              <a:rPr lang="en-US" sz="1500" b="1" u="none" strike="noStrike">
                <a:solidFill>
                  <a:srgbClr val="153B3B"/>
                </a:solidFill>
                <a:effectLst/>
                <a:uFillTx/>
                <a:latin typeface="Arial"/>
              </a:rPr>
              <a:t>27.59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642960" y="3553200"/>
            <a:ext cx="1829880" cy="509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05000"/>
              </a:lnSpc>
              <a:spcAft>
                <a:spcPts val="71"/>
              </a:spcAft>
            </a:pPr>
            <a:r>
              <a:rPr lang="en-US" sz="1400" b="1" u="none" strike="noStrike">
                <a:solidFill>
                  <a:srgbClr val="153B3B"/>
                </a:solidFill>
                <a:effectLst/>
                <a:uFillTx/>
                <a:latin typeface="Arial"/>
              </a:rPr>
              <a:t>INGARCH binomial negativa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2554920" y="3515040"/>
            <a:ext cx="4421880" cy="362880"/>
          </a:xfrm>
          <a:prstGeom prst="rect">
            <a:avLst/>
          </a:prstGeom>
          <a:solidFill>
            <a:srgbClr val="DDEDE8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2554920" y="3515040"/>
            <a:ext cx="3823200" cy="362880"/>
          </a:xfrm>
          <a:prstGeom prst="rect">
            <a:avLst/>
          </a:prstGeom>
          <a:solidFill>
            <a:srgbClr val="547070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7105680" y="3545280"/>
            <a:ext cx="793800" cy="302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Aft>
                <a:spcPts val="71"/>
              </a:spcAft>
            </a:pPr>
            <a:r>
              <a:rPr lang="en-US" sz="1500" b="1" u="none" strike="noStrike">
                <a:solidFill>
                  <a:srgbClr val="153B3B"/>
                </a:solidFill>
                <a:effectLst/>
                <a:uFillTx/>
                <a:latin typeface="Arial"/>
              </a:rPr>
              <a:t>27.66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7688160" y="1451160"/>
            <a:ext cx="1829880" cy="2873160"/>
          </a:xfrm>
          <a:prstGeom prst="rect">
            <a:avLst/>
          </a:prstGeom>
          <a:solidFill>
            <a:srgbClr val="FCE9D9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7847280" y="1640520"/>
            <a:ext cx="1511640" cy="2516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08000"/>
              </a:lnSpc>
              <a:spcAft>
                <a:spcPts val="575"/>
              </a:spcAft>
            </a:pPr>
            <a:r>
              <a:rPr lang="en-US" sz="1700" b="1" u="none" strike="noStrike">
                <a:solidFill>
                  <a:srgbClr val="153B3B"/>
                </a:solidFill>
                <a:effectLst/>
                <a:uFillTx/>
                <a:latin typeface="Arial"/>
              </a:rPr>
              <a:t>Leitura simples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505"/>
              </a:spcAft>
            </a:pPr>
            <a:r>
              <a:rPr lang="en-US" sz="1200" b="0" u="none" strike="noStrike">
                <a:solidFill>
                  <a:srgbClr val="547070"/>
                </a:solidFill>
                <a:effectLst/>
                <a:uFillTx/>
                <a:latin typeface="Arial"/>
              </a:rPr>
              <a:t>O SVR errou em média cerca de 25 notificações por mês.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505"/>
              </a:spcAft>
            </a:pPr>
            <a:r>
              <a:rPr lang="en-US" sz="1200" b="0" u="none" strike="noStrike">
                <a:solidFill>
                  <a:srgbClr val="547070"/>
                </a:solidFill>
                <a:effectLst/>
                <a:uFillTx/>
                <a:latin typeface="Arial"/>
              </a:rPr>
              <a:t>Ele teve vantagem sobre o último mês, mas a faixa de incerteza ainda inclui empate.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665640" y="4497840"/>
            <a:ext cx="8694000" cy="355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  <a:spcAft>
                <a:spcPts val="505"/>
              </a:spcAft>
            </a:pPr>
            <a:r>
              <a:rPr lang="en-US" sz="1200" b="0" u="none" strike="noStrike">
                <a:solidFill>
                  <a:srgbClr val="547070"/>
                </a:solidFill>
                <a:effectLst/>
                <a:uFillTx/>
                <a:latin typeface="Arial"/>
              </a:rPr>
              <a:t>Outra medida, o RMSE, também ficou perto: SVR 35,31 e SARIMA 35,39. O SVR subestimou em média 6,44 notificações.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491040" y="5420520"/>
            <a:ext cx="8844840" cy="218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547070"/>
                </a:solidFill>
                <a:effectLst/>
                <a:uFillTx/>
                <a:latin typeface="Arial"/>
              </a:rPr>
              <a:t>BREVES • PREVISÃO MENSAL | 06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"/>
          <p:cNvSpPr/>
          <p:nvPr/>
        </p:nvSpPr>
        <p:spPr>
          <a:xfrm>
            <a:off x="0" y="0"/>
            <a:ext cx="10079280" cy="5670360"/>
          </a:xfrm>
          <a:prstGeom prst="rect">
            <a:avLst/>
          </a:prstGeom>
          <a:solidFill>
            <a:srgbClr val="F5F7F3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513720" y="317160"/>
            <a:ext cx="8996040" cy="552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05000"/>
              </a:lnSpc>
              <a:spcAft>
                <a:spcPts val="575"/>
              </a:spcAft>
            </a:pPr>
            <a:r>
              <a:rPr lang="en-US" sz="3100" b="1" u="none" strike="noStrike">
                <a:solidFill>
                  <a:srgbClr val="153B3B"/>
                </a:solidFill>
                <a:effectLst/>
                <a:uFillTx/>
                <a:latin typeface="Arial"/>
              </a:rPr>
              <a:t>O ranking muda quando muda o período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529560" y="136080"/>
            <a:ext cx="3780000" cy="249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2000"/>
              </a:lnSpc>
              <a:spcAft>
                <a:spcPts val="289"/>
              </a:spcAft>
            </a:pPr>
            <a:r>
              <a:rPr lang="en-US" sz="1000" b="1" u="none" strike="noStrike">
                <a:solidFill>
                  <a:srgbClr val="277C74"/>
                </a:solidFill>
                <a:effectLst/>
                <a:uFillTx/>
                <a:latin typeface="Arial"/>
              </a:rPr>
              <a:t>RESULTADOS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529560" y="793800"/>
            <a:ext cx="8996040" cy="377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  <a:spcAft>
                <a:spcPts val="360"/>
              </a:spcAft>
            </a:pPr>
            <a:r>
              <a:rPr lang="en-US" sz="1700" b="0" u="none" strike="noStrike">
                <a:solidFill>
                  <a:srgbClr val="547070"/>
                </a:solidFill>
                <a:effectLst/>
                <a:uFillTx/>
                <a:latin typeface="Arial"/>
              </a:rPr>
              <a:t>Por isso, um resultado isolado não escolhe um vencedor definitivo.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567000" y="1473840"/>
            <a:ext cx="2834640" cy="2646360"/>
          </a:xfrm>
          <a:prstGeom prst="rect">
            <a:avLst/>
          </a:prstGeom>
          <a:solidFill>
            <a:srgbClr val="DDEDE8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717840" y="1677960"/>
            <a:ext cx="2532960" cy="317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2000"/>
              </a:lnSpc>
              <a:spcAft>
                <a:spcPts val="289"/>
              </a:spcAft>
            </a:pPr>
            <a:r>
              <a:rPr lang="en-US" sz="1000" b="1" u="none" strike="noStrike">
                <a:solidFill>
                  <a:srgbClr val="277C74"/>
                </a:solidFill>
                <a:effectLst/>
                <a:uFillTx/>
                <a:latin typeface="Arial"/>
              </a:rPr>
              <a:t>50% treino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717840" y="2147040"/>
            <a:ext cx="2532960" cy="36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08000"/>
              </a:lnSpc>
              <a:spcAft>
                <a:spcPts val="575"/>
              </a:spcAft>
            </a:pPr>
            <a:r>
              <a:rPr lang="en-US" sz="1700" b="1" u="none" strike="noStrike">
                <a:solidFill>
                  <a:srgbClr val="153B3B"/>
                </a:solidFill>
                <a:effectLst/>
                <a:uFillTx/>
                <a:latin typeface="Arial"/>
              </a:rPr>
              <a:t>SVR liderou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717840" y="2660760"/>
            <a:ext cx="2532960" cy="474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Aft>
                <a:spcPts val="215"/>
              </a:spcAft>
            </a:pPr>
            <a:r>
              <a:rPr lang="en-US" sz="2700" b="1" u="none" strike="noStrike">
                <a:solidFill>
                  <a:srgbClr val="277C74"/>
                </a:solidFill>
                <a:effectLst/>
                <a:uFillTx/>
                <a:latin typeface="Arial"/>
              </a:rPr>
              <a:t>24,71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717840" y="3137400"/>
            <a:ext cx="2532960" cy="36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  <a:spcAft>
                <a:spcPts val="505"/>
              </a:spcAft>
            </a:pPr>
            <a:r>
              <a:rPr lang="en-US" sz="1200" b="0" u="none" strike="noStrike">
                <a:solidFill>
                  <a:srgbClr val="547070"/>
                </a:solidFill>
                <a:effectLst/>
                <a:uFillTx/>
                <a:latin typeface="Arial"/>
              </a:rPr>
              <a:t>MAE 24,71 • Último mês: 27,07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717840" y="3651120"/>
            <a:ext cx="2532960" cy="27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08000"/>
              </a:lnSpc>
              <a:spcAft>
                <a:spcPts val="215"/>
              </a:spcAft>
            </a:pPr>
            <a:r>
              <a:rPr lang="en-US" sz="1200" b="0" u="none" strike="noStrike">
                <a:solidFill>
                  <a:srgbClr val="547070"/>
                </a:solidFill>
                <a:effectLst/>
                <a:uFillTx/>
                <a:latin typeface="Arial"/>
              </a:rPr>
              <a:t>Teste: 2017–2026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>
            <a:off x="3606480" y="1473840"/>
            <a:ext cx="2834640" cy="2646360"/>
          </a:xfrm>
          <a:prstGeom prst="rect">
            <a:avLst/>
          </a:prstGeom>
          <a:solidFill>
            <a:srgbClr val="E3EEF3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3757320" y="1677960"/>
            <a:ext cx="2532960" cy="317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2000"/>
              </a:lnSpc>
              <a:spcAft>
                <a:spcPts val="289"/>
              </a:spcAft>
            </a:pPr>
            <a:r>
              <a:rPr lang="en-US" sz="1000" b="1" u="none" strike="noStrike">
                <a:solidFill>
                  <a:srgbClr val="277C74"/>
                </a:solidFill>
                <a:effectLst/>
                <a:uFillTx/>
                <a:latin typeface="Arial"/>
              </a:rPr>
              <a:t>60% treino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3757320" y="2147040"/>
            <a:ext cx="2532960" cy="36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08000"/>
              </a:lnSpc>
              <a:spcAft>
                <a:spcPts val="575"/>
              </a:spcAft>
            </a:pPr>
            <a:r>
              <a:rPr lang="en-US" sz="1700" b="1" u="none" strike="noStrike">
                <a:solidFill>
                  <a:srgbClr val="153B3B"/>
                </a:solidFill>
                <a:effectLst/>
                <a:uFillTx/>
                <a:latin typeface="Arial"/>
              </a:rPr>
              <a:t>SVR liderou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3757320" y="2660760"/>
            <a:ext cx="2532960" cy="474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Aft>
                <a:spcPts val="215"/>
              </a:spcAft>
            </a:pPr>
            <a:r>
              <a:rPr lang="en-US" sz="2700" b="1" u="none" strike="noStrike">
                <a:solidFill>
                  <a:srgbClr val="277C74"/>
                </a:solidFill>
                <a:effectLst/>
                <a:uFillTx/>
                <a:latin typeface="Arial"/>
              </a:rPr>
              <a:t>21,92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3757320" y="3137400"/>
            <a:ext cx="2532960" cy="36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  <a:spcAft>
                <a:spcPts val="505"/>
              </a:spcAft>
            </a:pPr>
            <a:r>
              <a:rPr lang="en-US" sz="1200" b="0" u="none" strike="noStrike">
                <a:solidFill>
                  <a:srgbClr val="547070"/>
                </a:solidFill>
                <a:effectLst/>
                <a:uFillTx/>
                <a:latin typeface="Arial"/>
              </a:rPr>
              <a:t>MAE 21,92 • Último mês: 23,72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3757320" y="3651120"/>
            <a:ext cx="2532960" cy="27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08000"/>
              </a:lnSpc>
              <a:spcAft>
                <a:spcPts val="215"/>
              </a:spcAft>
            </a:pPr>
            <a:r>
              <a:rPr lang="en-US" sz="1200" b="0" u="none" strike="noStrike">
                <a:solidFill>
                  <a:srgbClr val="547070"/>
                </a:solidFill>
                <a:effectLst/>
                <a:uFillTx/>
                <a:latin typeface="Arial"/>
              </a:rPr>
              <a:t>Teste: 2019–2026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"/>
          <p:cNvSpPr/>
          <p:nvPr/>
        </p:nvSpPr>
        <p:spPr>
          <a:xfrm>
            <a:off x="6644880" y="1473840"/>
            <a:ext cx="2834640" cy="2646360"/>
          </a:xfrm>
          <a:prstGeom prst="rect">
            <a:avLst/>
          </a:prstGeom>
          <a:solidFill>
            <a:srgbClr val="FCE9D9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6795720" y="1677960"/>
            <a:ext cx="2532960" cy="317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2000"/>
              </a:lnSpc>
              <a:spcAft>
                <a:spcPts val="289"/>
              </a:spcAft>
            </a:pPr>
            <a:r>
              <a:rPr lang="en-US" sz="1000" b="1" u="none" strike="noStrike">
                <a:solidFill>
                  <a:srgbClr val="277C74"/>
                </a:solidFill>
                <a:effectLst/>
                <a:uFillTx/>
                <a:latin typeface="Arial"/>
              </a:rPr>
              <a:t>70% treino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6795720" y="2147040"/>
            <a:ext cx="2532960" cy="36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08000"/>
              </a:lnSpc>
              <a:spcAft>
                <a:spcPts val="575"/>
              </a:spcAft>
            </a:pPr>
            <a:r>
              <a:rPr lang="en-US" sz="1700" b="1" u="none" strike="noStrike">
                <a:solidFill>
                  <a:srgbClr val="153B3B"/>
                </a:solidFill>
                <a:effectLst/>
                <a:uFillTx/>
                <a:latin typeface="Arial"/>
              </a:rPr>
              <a:t>ETS liderou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6795720" y="2660760"/>
            <a:ext cx="2532960" cy="474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Aft>
                <a:spcPts val="215"/>
              </a:spcAft>
            </a:pPr>
            <a:r>
              <a:rPr lang="en-US" sz="2700" b="1" u="none" strike="noStrike">
                <a:solidFill>
                  <a:srgbClr val="277C74"/>
                </a:solidFill>
                <a:effectLst/>
                <a:uFillTx/>
                <a:latin typeface="Arial"/>
              </a:rPr>
              <a:t>23,18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6795720" y="3137400"/>
            <a:ext cx="2532960" cy="482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  <a:spcAft>
                <a:spcPts val="505"/>
              </a:spcAft>
            </a:pPr>
            <a:r>
              <a:rPr lang="en-US" sz="1200" b="0" u="none" strike="noStrike">
                <a:solidFill>
                  <a:srgbClr val="547070"/>
                </a:solidFill>
                <a:effectLst/>
                <a:uFillTx/>
                <a:latin typeface="Arial"/>
              </a:rPr>
              <a:t>MAE 23,18 • SVR: 24,09 • último mês: 24,15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6795720" y="3651120"/>
            <a:ext cx="2532960" cy="27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08000"/>
              </a:lnSpc>
              <a:spcAft>
                <a:spcPts val="215"/>
              </a:spcAft>
            </a:pPr>
            <a:r>
              <a:rPr lang="en-US" sz="1200" b="0" u="none" strike="noStrike">
                <a:solidFill>
                  <a:srgbClr val="547070"/>
                </a:solidFill>
                <a:effectLst/>
                <a:uFillTx/>
                <a:latin typeface="Arial"/>
              </a:rPr>
              <a:t>Teste: 2021–2026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"/>
          <p:cNvSpPr/>
          <p:nvPr/>
        </p:nvSpPr>
        <p:spPr>
          <a:xfrm>
            <a:off x="567000" y="4384440"/>
            <a:ext cx="8912520" cy="582480"/>
          </a:xfrm>
          <a:prstGeom prst="rect">
            <a:avLst/>
          </a:prstGeom>
          <a:solidFill>
            <a:srgbClr val="0E3034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740520" y="4520880"/>
            <a:ext cx="8534880" cy="287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  <a:spcAft>
                <a:spcPts val="505"/>
              </a:spcAft>
            </a:pPr>
            <a:r>
              <a:rPr lang="en-US" sz="1200" b="0" u="none" strike="noStrike">
                <a:solidFill>
                  <a:srgbClr val="D6E8E3"/>
                </a:solidFill>
                <a:effectLst/>
                <a:uFillTx/>
                <a:latin typeface="Arial"/>
              </a:rPr>
              <a:t>As janelas compartilham meses. São comparações de sensibilidade, não testes independentes.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491040" y="5420520"/>
            <a:ext cx="8844840" cy="218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547070"/>
                </a:solidFill>
                <a:effectLst/>
                <a:uFillTx/>
                <a:latin typeface="Arial"/>
              </a:rPr>
              <a:t>BREVES • PREVISÃO MENSAL | 07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"/>
          <p:cNvSpPr/>
          <p:nvPr/>
        </p:nvSpPr>
        <p:spPr>
          <a:xfrm>
            <a:off x="0" y="0"/>
            <a:ext cx="10079280" cy="5670360"/>
          </a:xfrm>
          <a:prstGeom prst="rect">
            <a:avLst/>
          </a:prstGeom>
          <a:solidFill>
            <a:srgbClr val="F5F7F3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513720" y="317160"/>
            <a:ext cx="8996040" cy="552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05000"/>
              </a:lnSpc>
              <a:spcAft>
                <a:spcPts val="575"/>
              </a:spcAft>
            </a:pPr>
            <a:r>
              <a:rPr lang="en-US" sz="3100" b="1" u="none" strike="noStrike">
                <a:solidFill>
                  <a:srgbClr val="153B3B"/>
                </a:solidFill>
                <a:effectLst/>
                <a:uFillTx/>
                <a:latin typeface="Arial"/>
              </a:rPr>
              <a:t>Por que testar a binomial negativa?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529560" y="136080"/>
            <a:ext cx="3780000" cy="249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2000"/>
              </a:lnSpc>
              <a:spcAft>
                <a:spcPts val="289"/>
              </a:spcAft>
            </a:pPr>
            <a:r>
              <a:rPr lang="en-US" sz="1000" b="1" u="none" strike="noStrike">
                <a:solidFill>
                  <a:srgbClr val="277C74"/>
                </a:solidFill>
                <a:effectLst/>
                <a:uFillTx/>
                <a:latin typeface="Arial"/>
              </a:rPr>
              <a:t>RESULTADOS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529560" y="793800"/>
            <a:ext cx="8996040" cy="377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  <a:spcAft>
                <a:spcPts val="360"/>
              </a:spcAft>
            </a:pPr>
            <a:r>
              <a:rPr lang="en-US" sz="1700" b="0" u="none" strike="noStrike">
                <a:solidFill>
                  <a:srgbClr val="547070"/>
                </a:solidFill>
                <a:effectLst/>
                <a:uFillTx/>
                <a:latin typeface="Arial"/>
              </a:rPr>
              <a:t>Uma checagem mostrou que o Poisson não acompanhou bem as oscilações.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642960" y="1300320"/>
            <a:ext cx="8618400" cy="622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8000"/>
              </a:lnSpc>
              <a:spcAft>
                <a:spcPts val="720"/>
              </a:spcAft>
            </a:pPr>
            <a:r>
              <a:rPr lang="en-US" sz="1600" b="0" u="none" strike="noStrike">
                <a:solidFill>
                  <a:srgbClr val="153B3B"/>
                </a:solidFill>
                <a:effectLst/>
                <a:uFillTx/>
                <a:latin typeface="Arial"/>
              </a:rPr>
              <a:t>Dispersão dos erros comparada com o que cada modelo esperava (perto de 1 é mais alinhado):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665640" y="2063880"/>
            <a:ext cx="2094120" cy="36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05000"/>
              </a:lnSpc>
              <a:spcAft>
                <a:spcPts val="71"/>
              </a:spcAft>
            </a:pPr>
            <a:r>
              <a:rPr lang="en-US" sz="1400" b="1" u="none" strike="noStrike">
                <a:solidFill>
                  <a:srgbClr val="153B3B"/>
                </a:solidFill>
                <a:effectLst/>
                <a:uFillTx/>
                <a:latin typeface="Arial"/>
              </a:rPr>
              <a:t>INGARCH Poisson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"/>
          <p:cNvSpPr/>
          <p:nvPr/>
        </p:nvSpPr>
        <p:spPr>
          <a:xfrm>
            <a:off x="2910600" y="2003400"/>
            <a:ext cx="4271040" cy="469080"/>
          </a:xfrm>
          <a:prstGeom prst="rect">
            <a:avLst/>
          </a:prstGeom>
          <a:solidFill>
            <a:srgbClr val="DDEDE8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"/>
          <p:cNvSpPr/>
          <p:nvPr/>
        </p:nvSpPr>
        <p:spPr>
          <a:xfrm>
            <a:off x="2910600" y="2003400"/>
            <a:ext cx="3951000" cy="469080"/>
          </a:xfrm>
          <a:prstGeom prst="rect">
            <a:avLst/>
          </a:prstGeom>
          <a:solidFill>
            <a:srgbClr val="C76352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7325280" y="2063880"/>
            <a:ext cx="846720" cy="317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Aft>
                <a:spcPts val="71"/>
              </a:spcAft>
            </a:pPr>
            <a:r>
              <a:rPr lang="en-US" sz="1500" b="1" u="none" strike="noStrike">
                <a:solidFill>
                  <a:srgbClr val="153B3B"/>
                </a:solidFill>
                <a:effectLst/>
                <a:uFillTx/>
                <a:latin typeface="Arial"/>
              </a:rPr>
              <a:t>12.95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665640" y="2956320"/>
            <a:ext cx="2094120" cy="509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05000"/>
              </a:lnSpc>
              <a:spcAft>
                <a:spcPts val="71"/>
              </a:spcAft>
            </a:pPr>
            <a:r>
              <a:rPr lang="en-US" sz="1400" b="1" u="none" strike="noStrike">
                <a:solidFill>
                  <a:srgbClr val="153B3B"/>
                </a:solidFill>
                <a:effectLst/>
                <a:uFillTx/>
                <a:latin typeface="Arial"/>
              </a:rPr>
              <a:t>INGARCH binomial negativa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"/>
          <p:cNvSpPr/>
          <p:nvPr/>
        </p:nvSpPr>
        <p:spPr>
          <a:xfrm>
            <a:off x="2910600" y="2895120"/>
            <a:ext cx="4271040" cy="469080"/>
          </a:xfrm>
          <a:prstGeom prst="rect">
            <a:avLst/>
          </a:prstGeom>
          <a:solidFill>
            <a:srgbClr val="DDEDE8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"/>
          <p:cNvSpPr/>
          <p:nvPr/>
        </p:nvSpPr>
        <p:spPr>
          <a:xfrm>
            <a:off x="2910600" y="2895120"/>
            <a:ext cx="301680" cy="469080"/>
          </a:xfrm>
          <a:prstGeom prst="rect">
            <a:avLst/>
          </a:prstGeom>
          <a:solidFill>
            <a:srgbClr val="277C74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7325280" y="2956320"/>
            <a:ext cx="846720" cy="317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Aft>
                <a:spcPts val="71"/>
              </a:spcAft>
            </a:pPr>
            <a:r>
              <a:rPr lang="en-US" sz="1500" b="1" u="none" strike="noStrike">
                <a:solidFill>
                  <a:srgbClr val="153B3B"/>
                </a:solidFill>
                <a:effectLst/>
                <a:uFillTx/>
                <a:latin typeface="Arial"/>
              </a:rPr>
              <a:t>0.99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"/>
          <p:cNvSpPr/>
          <p:nvPr/>
        </p:nvSpPr>
        <p:spPr>
          <a:xfrm>
            <a:off x="665640" y="3968640"/>
            <a:ext cx="8784720" cy="779040"/>
          </a:xfrm>
          <a:prstGeom prst="rect">
            <a:avLst/>
          </a:prstGeom>
          <a:solidFill>
            <a:srgbClr val="FCE9D9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831240" y="4111920"/>
            <a:ext cx="8451720" cy="491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  <a:spcAft>
                <a:spcPts val="505"/>
              </a:spcAft>
            </a:pPr>
            <a:r>
              <a:rPr lang="en-US" sz="1200" b="0" u="none" strike="noStrike">
                <a:solidFill>
                  <a:srgbClr val="547070"/>
                </a:solidFill>
                <a:effectLst/>
                <a:uFillTx/>
                <a:latin typeface="Arial"/>
              </a:rPr>
              <a:t>A binomial negativa representou melhor a variação, mas não reduziu claramente o erro médio frente ao método simples do último mês.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"/>
          <p:cNvSpPr txBox="1"/>
          <p:nvPr/>
        </p:nvSpPr>
        <p:spPr>
          <a:xfrm>
            <a:off x="491040" y="5420520"/>
            <a:ext cx="8844840" cy="218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547070"/>
                </a:solidFill>
                <a:effectLst/>
                <a:uFillTx/>
                <a:latin typeface="Arial"/>
              </a:rPr>
              <a:t>BREVES • PREVISÃO MENSAL | 08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"/>
          <p:cNvSpPr/>
          <p:nvPr/>
        </p:nvSpPr>
        <p:spPr>
          <a:xfrm>
            <a:off x="0" y="0"/>
            <a:ext cx="10079280" cy="5670360"/>
          </a:xfrm>
          <a:prstGeom prst="rect">
            <a:avLst/>
          </a:prstGeom>
          <a:solidFill>
            <a:srgbClr val="F5F7F3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"/>
          <p:cNvSpPr txBox="1"/>
          <p:nvPr/>
        </p:nvSpPr>
        <p:spPr>
          <a:xfrm>
            <a:off x="513720" y="317160"/>
            <a:ext cx="8996040" cy="552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05000"/>
              </a:lnSpc>
              <a:spcAft>
                <a:spcPts val="575"/>
              </a:spcAft>
            </a:pPr>
            <a:r>
              <a:rPr lang="en-US" sz="3100" b="1" u="none" strike="noStrike">
                <a:solidFill>
                  <a:srgbClr val="153B3B"/>
                </a:solidFill>
                <a:effectLst/>
                <a:uFillTx/>
                <a:latin typeface="Arial"/>
              </a:rPr>
              <a:t>O que podemos dizer hoje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529560" y="136080"/>
            <a:ext cx="3780000" cy="249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2000"/>
              </a:lnSpc>
              <a:spcAft>
                <a:spcPts val="289"/>
              </a:spcAft>
            </a:pPr>
            <a:r>
              <a:rPr lang="en-US" sz="1000" b="1" u="none" strike="noStrike">
                <a:solidFill>
                  <a:srgbClr val="277C74"/>
                </a:solidFill>
                <a:effectLst/>
                <a:uFillTx/>
                <a:latin typeface="Arial"/>
              </a:rPr>
              <a:t>CONCLUSÕES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529560" y="793800"/>
            <a:ext cx="8996040" cy="377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  <a:spcAft>
                <a:spcPts val="360"/>
              </a:spcAft>
            </a:pPr>
            <a:r>
              <a:rPr lang="en-US" sz="1700" b="0" u="none" strike="noStrike">
                <a:solidFill>
                  <a:srgbClr val="547070"/>
                </a:solidFill>
                <a:effectLst/>
                <a:uFillTx/>
                <a:latin typeface="Arial"/>
              </a:rPr>
              <a:t>Resultado útil para orientar os próximos passos, ainda sem um campeão confirmado.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"/>
          <p:cNvSpPr/>
          <p:nvPr/>
        </p:nvSpPr>
        <p:spPr>
          <a:xfrm>
            <a:off x="642960" y="1406520"/>
            <a:ext cx="423360" cy="423360"/>
          </a:xfrm>
          <a:prstGeom prst="ellipse">
            <a:avLst/>
          </a:prstGeom>
          <a:solidFill>
            <a:srgbClr val="277C74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756360" y="1504080"/>
            <a:ext cx="196560" cy="312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>
              <a:lnSpc>
                <a:spcPct val="105000"/>
              </a:lnSpc>
              <a:spcAft>
                <a:spcPts val="289"/>
              </a:spcAft>
            </a:pPr>
            <a:r>
              <a:rPr lang="en-US" sz="1500" b="1" u="none" strike="noStrike">
                <a:solidFill>
                  <a:srgbClr val="153B3B"/>
                </a:solidFill>
                <a:effectLst/>
                <a:uFillTx/>
                <a:latin typeface="Arial"/>
              </a:rPr>
              <a:t>1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1284840" y="1390680"/>
            <a:ext cx="8013960" cy="589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8000"/>
              </a:lnSpc>
              <a:spcAft>
                <a:spcPts val="720"/>
              </a:spcAft>
            </a:pPr>
            <a:r>
              <a:rPr lang="en-US" sz="1600" b="0" u="none" strike="noStrike">
                <a:solidFill>
                  <a:srgbClr val="153B3B"/>
                </a:solidFill>
                <a:effectLst/>
                <a:uFillTx/>
                <a:latin typeface="Arial"/>
              </a:rPr>
              <a:t>SVR foi o melhor resultado pontual em 50/50 e 60/40; em 70/30, ETS ficou na frente.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"/>
          <p:cNvSpPr/>
          <p:nvPr/>
        </p:nvSpPr>
        <p:spPr>
          <a:xfrm>
            <a:off x="642960" y="2253240"/>
            <a:ext cx="423360" cy="423360"/>
          </a:xfrm>
          <a:prstGeom prst="ellipse">
            <a:avLst/>
          </a:prstGeom>
          <a:solidFill>
            <a:srgbClr val="277C74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"/>
          <p:cNvSpPr txBox="1"/>
          <p:nvPr/>
        </p:nvSpPr>
        <p:spPr>
          <a:xfrm>
            <a:off x="756360" y="2350800"/>
            <a:ext cx="196560" cy="312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>
              <a:lnSpc>
                <a:spcPct val="105000"/>
              </a:lnSpc>
              <a:spcAft>
                <a:spcPts val="289"/>
              </a:spcAft>
            </a:pPr>
            <a:r>
              <a:rPr lang="en-US" sz="1500" b="1" u="none" strike="noStrike">
                <a:solidFill>
                  <a:srgbClr val="153B3B"/>
                </a:solidFill>
                <a:effectLst/>
                <a:uFillTx/>
                <a:latin typeface="Arial"/>
              </a:rPr>
              <a:t>2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1284840" y="2237400"/>
            <a:ext cx="8013960" cy="589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8000"/>
              </a:lnSpc>
              <a:spcAft>
                <a:spcPts val="720"/>
              </a:spcAft>
            </a:pPr>
            <a:r>
              <a:rPr lang="en-US" sz="1600" b="0" u="none" strike="noStrike">
                <a:solidFill>
                  <a:srgbClr val="153B3B"/>
                </a:solidFill>
                <a:effectLst/>
                <a:uFillTx/>
                <a:latin typeface="Arial"/>
              </a:rPr>
              <a:t>As diferenças contra o método do último mês não foram conclusivas.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"/>
          <p:cNvSpPr/>
          <p:nvPr/>
        </p:nvSpPr>
        <p:spPr>
          <a:xfrm>
            <a:off x="642960" y="3099960"/>
            <a:ext cx="423360" cy="423360"/>
          </a:xfrm>
          <a:prstGeom prst="ellipse">
            <a:avLst/>
          </a:prstGeom>
          <a:solidFill>
            <a:srgbClr val="277C74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"/>
          <p:cNvSpPr txBox="1"/>
          <p:nvPr/>
        </p:nvSpPr>
        <p:spPr>
          <a:xfrm>
            <a:off x="756360" y="3197520"/>
            <a:ext cx="196560" cy="312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>
              <a:lnSpc>
                <a:spcPct val="105000"/>
              </a:lnSpc>
              <a:spcAft>
                <a:spcPts val="289"/>
              </a:spcAft>
            </a:pPr>
            <a:r>
              <a:rPr lang="en-US" sz="1500" b="1" u="none" strike="noStrike">
                <a:solidFill>
                  <a:srgbClr val="153B3B"/>
                </a:solidFill>
                <a:effectLst/>
                <a:uFillTx/>
                <a:latin typeface="Arial"/>
              </a:rPr>
              <a:t>3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"/>
          <p:cNvSpPr txBox="1"/>
          <p:nvPr/>
        </p:nvSpPr>
        <p:spPr>
          <a:xfrm>
            <a:off x="1284840" y="3084120"/>
            <a:ext cx="8013960" cy="622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8000"/>
              </a:lnSpc>
              <a:spcAft>
                <a:spcPts val="720"/>
              </a:spcAft>
            </a:pPr>
            <a:r>
              <a:rPr lang="en-US" sz="1600" b="0" u="none" strike="noStrike">
                <a:solidFill>
                  <a:srgbClr val="153B3B"/>
                </a:solidFill>
                <a:effectLst/>
                <a:uFillTx/>
                <a:latin typeface="Arial"/>
              </a:rPr>
              <a:t>INGARCH binomial negativa acompanhou melhor a variação dos dados que a versão Poisson.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"/>
          <p:cNvSpPr/>
          <p:nvPr/>
        </p:nvSpPr>
        <p:spPr>
          <a:xfrm>
            <a:off x="642960" y="4120200"/>
            <a:ext cx="8769240" cy="650160"/>
          </a:xfrm>
          <a:prstGeom prst="rect">
            <a:avLst/>
          </a:prstGeom>
          <a:solidFill>
            <a:srgbClr val="0E3034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"/>
          <p:cNvSpPr txBox="1"/>
          <p:nvPr/>
        </p:nvSpPr>
        <p:spPr>
          <a:xfrm>
            <a:off x="816480" y="4248360"/>
            <a:ext cx="8406000" cy="377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  <a:spcAft>
                <a:spcPts val="505"/>
              </a:spcAft>
            </a:pPr>
            <a:r>
              <a:rPr lang="en-US" sz="1200" b="0" u="none" strike="noStrike">
                <a:solidFill>
                  <a:srgbClr val="D6E8E3"/>
                </a:solidFill>
                <a:effectLst/>
                <a:uFillTx/>
                <a:latin typeface="Arial"/>
              </a:rPr>
              <a:t>Limites: só notificações, sem clima ou população; previsão de um mês à frente; períodos de teste sobrepostos.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"/>
          <p:cNvSpPr txBox="1"/>
          <p:nvPr/>
        </p:nvSpPr>
        <p:spPr>
          <a:xfrm>
            <a:off x="491040" y="5420520"/>
            <a:ext cx="8844840" cy="218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547070"/>
                </a:solidFill>
                <a:effectLst/>
                <a:uFillTx/>
                <a:latin typeface="Arial"/>
              </a:rPr>
              <a:t>BREVES • PREVISÃO MENSAL | 09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"/>
          <p:cNvSpPr/>
          <p:nvPr/>
        </p:nvSpPr>
        <p:spPr>
          <a:xfrm>
            <a:off x="0" y="0"/>
            <a:ext cx="10079280" cy="5670360"/>
          </a:xfrm>
          <a:prstGeom prst="rect">
            <a:avLst/>
          </a:prstGeom>
          <a:solidFill>
            <a:srgbClr val="F5F7F3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"/>
          <p:cNvSpPr txBox="1"/>
          <p:nvPr/>
        </p:nvSpPr>
        <p:spPr>
          <a:xfrm>
            <a:off x="513720" y="317160"/>
            <a:ext cx="8996040" cy="552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05000"/>
              </a:lnSpc>
              <a:spcAft>
                <a:spcPts val="575"/>
              </a:spcAft>
            </a:pPr>
            <a:r>
              <a:rPr lang="en-US" sz="3100" b="1" u="none" strike="noStrike">
                <a:solidFill>
                  <a:srgbClr val="153B3B"/>
                </a:solidFill>
                <a:effectLst/>
                <a:uFillTx/>
                <a:latin typeface="Arial"/>
              </a:rPr>
              <a:t>Próximos passos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"/>
          <p:cNvSpPr txBox="1"/>
          <p:nvPr/>
        </p:nvSpPr>
        <p:spPr>
          <a:xfrm>
            <a:off x="529560" y="136080"/>
            <a:ext cx="3780000" cy="249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2000"/>
              </a:lnSpc>
              <a:spcAft>
                <a:spcPts val="289"/>
              </a:spcAft>
            </a:pPr>
            <a:r>
              <a:rPr lang="en-US" sz="1000" b="1" u="none" strike="noStrike">
                <a:solidFill>
                  <a:srgbClr val="277C74"/>
                </a:solidFill>
                <a:effectLst/>
                <a:uFillTx/>
                <a:latin typeface="Arial"/>
              </a:rPr>
              <a:t>ENCERRAMENTO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"/>
          <p:cNvSpPr txBox="1"/>
          <p:nvPr/>
        </p:nvSpPr>
        <p:spPr>
          <a:xfrm>
            <a:off x="529560" y="793800"/>
            <a:ext cx="8996040" cy="377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  <a:spcAft>
                <a:spcPts val="360"/>
              </a:spcAft>
            </a:pPr>
            <a:r>
              <a:rPr lang="en-US" sz="1700" b="0" u="none" strike="noStrike">
                <a:solidFill>
                  <a:srgbClr val="547070"/>
                </a:solidFill>
                <a:effectLst/>
                <a:uFillTx/>
                <a:latin typeface="Arial"/>
              </a:rPr>
              <a:t>Continuar com o que está disponível e validar antes de ampliar as conclusões.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"/>
          <p:cNvSpPr/>
          <p:nvPr/>
        </p:nvSpPr>
        <p:spPr>
          <a:xfrm>
            <a:off x="619920" y="1376280"/>
            <a:ext cx="4218120" cy="1149480"/>
          </a:xfrm>
          <a:prstGeom prst="rect">
            <a:avLst/>
          </a:prstGeom>
          <a:solidFill>
            <a:srgbClr val="DDEDE8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"/>
          <p:cNvSpPr txBox="1"/>
          <p:nvPr/>
        </p:nvSpPr>
        <p:spPr>
          <a:xfrm>
            <a:off x="770760" y="1511640"/>
            <a:ext cx="3916440" cy="922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08000"/>
              </a:lnSpc>
              <a:spcAft>
                <a:spcPts val="575"/>
              </a:spcAft>
            </a:pPr>
            <a:r>
              <a:rPr lang="en-US" sz="1700" b="1" u="none" strike="noStrike">
                <a:solidFill>
                  <a:srgbClr val="153B3B"/>
                </a:solidFill>
                <a:effectLst/>
                <a:uFillTx/>
                <a:latin typeface="Arial"/>
              </a:rPr>
              <a:t>Confirmar os dados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505"/>
              </a:spcAft>
            </a:pPr>
            <a:r>
              <a:rPr lang="en-US" sz="1200" b="0" u="none" strike="noStrike">
                <a:solidFill>
                  <a:srgbClr val="547070"/>
                </a:solidFill>
                <a:effectLst/>
                <a:uFillTx/>
                <a:latin typeface="Arial"/>
              </a:rPr>
              <a:t>Entender atrasos e revisões das notificações com a fonte.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"/>
          <p:cNvSpPr/>
          <p:nvPr/>
        </p:nvSpPr>
        <p:spPr>
          <a:xfrm>
            <a:off x="5155560" y="1376280"/>
            <a:ext cx="4218120" cy="1149480"/>
          </a:xfrm>
          <a:prstGeom prst="rect">
            <a:avLst/>
          </a:prstGeom>
          <a:solidFill>
            <a:srgbClr val="E3EEF3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"/>
          <p:cNvSpPr txBox="1"/>
          <p:nvPr/>
        </p:nvSpPr>
        <p:spPr>
          <a:xfrm>
            <a:off x="5307120" y="1511640"/>
            <a:ext cx="3916440" cy="922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08000"/>
              </a:lnSpc>
              <a:spcAft>
                <a:spcPts val="575"/>
              </a:spcAft>
            </a:pPr>
            <a:r>
              <a:rPr lang="en-US" sz="1700" b="1" u="none" strike="noStrike">
                <a:solidFill>
                  <a:srgbClr val="153B3B"/>
                </a:solidFill>
                <a:effectLst/>
                <a:uFillTx/>
                <a:latin typeface="Arial"/>
              </a:rPr>
              <a:t>Acompanhar meses novos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505"/>
              </a:spcAft>
            </a:pPr>
            <a:r>
              <a:rPr lang="en-US" sz="1200" b="0" u="none" strike="noStrike">
                <a:solidFill>
                  <a:srgbClr val="547070"/>
                </a:solidFill>
                <a:effectLst/>
                <a:uFillTx/>
                <a:latin typeface="Arial"/>
              </a:rPr>
              <a:t>Verificar se o padrão se mantém em dados que ainda não entraram nos testes.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"/>
          <p:cNvSpPr/>
          <p:nvPr/>
        </p:nvSpPr>
        <p:spPr>
          <a:xfrm>
            <a:off x="619920" y="2850120"/>
            <a:ext cx="4218120" cy="1149480"/>
          </a:xfrm>
          <a:prstGeom prst="rect">
            <a:avLst/>
          </a:prstGeom>
          <a:solidFill>
            <a:srgbClr val="E3EEF3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"/>
          <p:cNvSpPr txBox="1"/>
          <p:nvPr/>
        </p:nvSpPr>
        <p:spPr>
          <a:xfrm>
            <a:off x="770760" y="2986560"/>
            <a:ext cx="3916440" cy="922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08000"/>
              </a:lnSpc>
              <a:spcAft>
                <a:spcPts val="575"/>
              </a:spcAft>
            </a:pPr>
            <a:r>
              <a:rPr lang="en-US" sz="1700" b="1" u="none" strike="noStrike">
                <a:solidFill>
                  <a:srgbClr val="153B3B"/>
                </a:solidFill>
                <a:effectLst/>
                <a:uFillTx/>
                <a:latin typeface="Arial"/>
              </a:rPr>
              <a:t>Ampliar os modelos de contagem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505"/>
              </a:spcAft>
            </a:pPr>
            <a:r>
              <a:rPr lang="en-US" sz="1200" b="0" u="none" strike="noStrike">
                <a:solidFill>
                  <a:srgbClr val="547070"/>
                </a:solidFill>
                <a:effectLst/>
                <a:uFillTx/>
                <a:latin typeface="Arial"/>
              </a:rPr>
              <a:t>Comparar outras formas de representar sazonalidade e dependência temporal.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"/>
          <p:cNvSpPr/>
          <p:nvPr/>
        </p:nvSpPr>
        <p:spPr>
          <a:xfrm>
            <a:off x="5155560" y="2850120"/>
            <a:ext cx="4218120" cy="1149480"/>
          </a:xfrm>
          <a:prstGeom prst="rect">
            <a:avLst/>
          </a:prstGeom>
          <a:solidFill>
            <a:srgbClr val="DDEDE8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"/>
          <p:cNvSpPr txBox="1"/>
          <p:nvPr/>
        </p:nvSpPr>
        <p:spPr>
          <a:xfrm>
            <a:off x="5307120" y="2986560"/>
            <a:ext cx="3916440" cy="922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08000"/>
              </a:lnSpc>
              <a:spcAft>
                <a:spcPts val="575"/>
              </a:spcAft>
            </a:pPr>
            <a:r>
              <a:rPr lang="en-US" sz="1700" b="1" u="none" strike="noStrike">
                <a:solidFill>
                  <a:srgbClr val="153B3B"/>
                </a:solidFill>
                <a:effectLst/>
                <a:uFillTx/>
                <a:latin typeface="Arial"/>
              </a:rPr>
              <a:t>Adicionar clima depois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505"/>
              </a:spcAft>
            </a:pPr>
            <a:r>
              <a:rPr lang="en-US" sz="1200" b="0" u="none" strike="noStrike">
                <a:solidFill>
                  <a:srgbClr val="547070"/>
                </a:solidFill>
                <a:effectLst/>
                <a:uFillTx/>
                <a:latin typeface="Arial"/>
              </a:rPr>
              <a:t>Só quando chuva e temperatura estiverem alinhadas ao que já seria conhecido na previsão.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642960" y="4535280"/>
            <a:ext cx="8694000" cy="287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0000"/>
              </a:lnSpc>
              <a:spcAft>
                <a:spcPts val="215"/>
              </a:spcAft>
            </a:pPr>
            <a:r>
              <a:rPr lang="en-US" sz="900" b="0" u="none" strike="noStrike">
                <a:solidFill>
                  <a:srgbClr val="547070"/>
                </a:solidFill>
                <a:effectLst/>
                <a:uFillTx/>
                <a:latin typeface="Arial"/>
              </a:rPr>
              <a:t>Modelos de contagem: Ferland et al. (2006); Zhu (2011). Análises e arquivos: docs/revisao_e_protocolo.md e results/.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491040" y="5420520"/>
            <a:ext cx="8844840" cy="218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547070"/>
                </a:solidFill>
                <a:effectLst/>
                <a:uFillTx/>
                <a:latin typeface="Arial"/>
              </a:rPr>
              <a:t>BREVES • PREVISÃO MENSAL | 10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LibreOffice/26.2.6.3$Linux_X86_64 LibreOffice_project/620$Build-3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pt-BR</dc:language>
  <cp:lastModifiedBy/>
  <cp:revision>0</cp:revision>
  <dc:subject/>
  <dc:title>Previsão mensal de notificações de malária em Breves</dc:title>
</cp:coreProperties>
</file>